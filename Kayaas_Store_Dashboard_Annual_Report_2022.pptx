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  <p:sldId id="264" r:id="rId10"/>
    <p:sldId id="266" r:id="rId11"/>
    <p:sldId id="267" r:id="rId12"/>
    <p:sldId id="269" r:id="rId13"/>
    <p:sldId id="268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90" autoAdjust="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mit.kr\Downloads\kayaas_Store_excel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esktop\Hospital%20mgmt\Kayaas%20Store%20data\kayaas_Store_excel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mit.kr\Downloads\kayaas_Store_excel_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mit.kr\Downloads\kayaas_Store_excel_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[kayaas_Store_excel_analysis.xlsx]order status!PivotTable3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Order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20000"/>
                <a:lumOff val="80000"/>
                <a:alpha val="3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20000"/>
                <a:lumOff val="80000"/>
                <a:alpha val="3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20000"/>
                <a:lumOff val="80000"/>
                <a:alpha val="3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20000"/>
                <a:lumOff val="80000"/>
                <a:alpha val="3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20000"/>
                <a:lumOff val="80000"/>
                <a:alpha val="37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8626213818394792E-2"/>
          <c:y val="0.17110941429980867"/>
          <c:w val="0.87905488653541008"/>
          <c:h val="0.721868692959653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'order status'!$B$2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1">
                  <a:lumMod val="20000"/>
                  <a:lumOff val="80000"/>
                  <a:alpha val="37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'order status'!$A$3:$A$6</c:f>
              <c:strCache>
                <c:ptCount val="4"/>
                <c:pt idx="0">
                  <c:v>Delivered</c:v>
                </c:pt>
                <c:pt idx="1">
                  <c:v>Returned</c:v>
                </c:pt>
                <c:pt idx="2">
                  <c:v>Cancelled</c:v>
                </c:pt>
                <c:pt idx="3">
                  <c:v>Refunded</c:v>
                </c:pt>
              </c:strCache>
            </c:strRef>
          </c:cat>
          <c:val>
            <c:numRef>
              <c:f>'order status'!$B$3:$B$6</c:f>
              <c:numCache>
                <c:formatCode>General</c:formatCode>
                <c:ptCount val="4"/>
                <c:pt idx="0">
                  <c:v>28641</c:v>
                </c:pt>
                <c:pt idx="1">
                  <c:v>1045</c:v>
                </c:pt>
                <c:pt idx="2">
                  <c:v>844</c:v>
                </c:pt>
                <c:pt idx="3">
                  <c:v>517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8F-42DB-9140-C7C2085079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13388079"/>
        <c:axId val="913373103"/>
      </c:barChart>
      <c:catAx>
        <c:axId val="913388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3373103"/>
        <c:crosses val="autoZero"/>
        <c:auto val="1"/>
        <c:lblAlgn val="ctr"/>
        <c:lblOffset val="100"/>
        <c:noMultiLvlLbl val="0"/>
      </c:catAx>
      <c:valAx>
        <c:axId val="9133731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3388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[kayaas_Store_excel_analysis.xlsx]OrdersSales!PivotTable1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Orders</a:t>
            </a:r>
            <a:r>
              <a:rPr lang="en-IN" baseline="0"/>
              <a:t> Vs Sales</a:t>
            </a:r>
            <a:endParaRPr lang="en-IN"/>
          </a:p>
        </c:rich>
      </c:tx>
      <c:layout>
        <c:manualLayout>
          <c:xMode val="edge"/>
          <c:yMode val="edge"/>
          <c:x val="0.3551041119860017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20000"/>
                <a:lumOff val="80000"/>
                <a:alpha val="4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2.0370135052831988E-16"/>
              <c:y val="0.1136482939632546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t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5.5555555555555428E-3"/>
              <c:y val="0.29044801691455235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5.5555555555555297E-3"/>
              <c:y val="0.27459682123067941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"/>
              <c:y val="0.24745990084572761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5.5555555555555046E-3"/>
              <c:y val="0.20797608632254302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2.7777777777777267E-3"/>
              <c:y val="0.34352799650043747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"/>
              <c:y val="0.29686679790026249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2.7777777777777779E-3"/>
              <c:y val="0.23185440361621457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"/>
              <c:y val="0.15138779527559046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2.7777777777777779E-3"/>
              <c:y val="0.18823527267424897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5.5555555555556572E-3"/>
              <c:y val="0.18348972003499553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8944444444444443E-2"/>
              <c:y val="-2.5428331875182311E-2"/>
            </c:manualLayout>
          </c:layout>
          <c:spPr>
            <a:solidFill>
              <a:schemeClr val="accent2">
                <a:lumMod val="20000"/>
                <a:lumOff val="80000"/>
                <a:alpha val="4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6166666666666668E-2"/>
              <c:y val="-3.0057961504811898E-2"/>
            </c:manualLayout>
          </c:layout>
          <c:spPr>
            <a:solidFill>
              <a:schemeClr val="accent2">
                <a:lumMod val="20000"/>
                <a:lumOff val="80000"/>
                <a:alpha val="4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1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19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20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8944444444444443E-2"/>
              <c:y val="-3.4687591134441573E-2"/>
            </c:manualLayout>
          </c:layout>
          <c:spPr>
            <a:solidFill>
              <a:schemeClr val="accent2">
                <a:lumMod val="20000"/>
                <a:lumOff val="80000"/>
                <a:alpha val="4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2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2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2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5.5555555555555428E-3"/>
              <c:y val="0.29044801691455235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5.5555555555555297E-3"/>
              <c:y val="0.27459682123067941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"/>
              <c:y val="0.24745990084572761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5.5555555555555046E-3"/>
              <c:y val="0.20797608632254302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2.7777777777777267E-3"/>
              <c:y val="0.34352799650043747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"/>
              <c:y val="0.29686679790026249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2.7777777777777779E-3"/>
              <c:y val="0.23185440361621457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"/>
              <c:y val="0.15138779527559046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2.7777777777777779E-3"/>
              <c:y val="0.18823527267424897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5.5555555555556572E-3"/>
              <c:y val="0.18348972003499553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2.0370135052831988E-16"/>
              <c:y val="0.1136482939632546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t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2">
                <a:lumMod val="20000"/>
                <a:lumOff val="80000"/>
                <a:alpha val="4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8944444444444443E-2"/>
              <c:y val="-2.5428331875182311E-2"/>
            </c:manualLayout>
          </c:layout>
          <c:spPr>
            <a:solidFill>
              <a:schemeClr val="accent2">
                <a:lumMod val="20000"/>
                <a:lumOff val="80000"/>
                <a:alpha val="4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6166666666666668E-2"/>
              <c:y val="-3.0057961504811898E-2"/>
            </c:manualLayout>
          </c:layout>
          <c:spPr>
            <a:solidFill>
              <a:schemeClr val="accent2">
                <a:lumMod val="20000"/>
                <a:lumOff val="80000"/>
                <a:alpha val="4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8944444444444443E-2"/>
              <c:y val="-3.4687591134441573E-2"/>
            </c:manualLayout>
          </c:layout>
          <c:spPr>
            <a:solidFill>
              <a:schemeClr val="accent2">
                <a:lumMod val="20000"/>
                <a:lumOff val="80000"/>
                <a:alpha val="4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5.5555555555555428E-3"/>
              <c:y val="0.29044801691455235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5.5555555555555297E-3"/>
              <c:y val="0.27459682123067941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"/>
              <c:y val="0.24745990084572761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5.5555555555555046E-3"/>
              <c:y val="0.20797608632254302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2.7777777777777267E-3"/>
              <c:y val="0.34352799650043747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"/>
              <c:y val="0.29686679790026249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2.7777777777777779E-3"/>
              <c:y val="0.23185440361621457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"/>
              <c:y val="0.15138779527559046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2.7777777777777779E-3"/>
              <c:y val="0.18823527267424897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5.5555555555556572E-3"/>
              <c:y val="0.18348972003499553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2.0370135052831988E-16"/>
              <c:y val="0.1136482939632546"/>
            </c:manualLayout>
          </c:layout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t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20000"/>
                <a:lumOff val="80000"/>
                <a:alpha val="4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8944444444444443E-2"/>
              <c:y val="-2.5428331875182311E-2"/>
            </c:manualLayout>
          </c:layout>
          <c:spPr>
            <a:solidFill>
              <a:schemeClr val="accent1">
                <a:lumMod val="20000"/>
                <a:lumOff val="80000"/>
                <a:alpha val="4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6166666666666668E-2"/>
              <c:y val="-3.0057961504811898E-2"/>
            </c:manualLayout>
          </c:layout>
          <c:spPr>
            <a:solidFill>
              <a:schemeClr val="accent1">
                <a:lumMod val="20000"/>
                <a:lumOff val="80000"/>
                <a:alpha val="4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4.8944444444444443E-2"/>
              <c:y val="-3.4687591134441573E-2"/>
            </c:manualLayout>
          </c:layout>
          <c:spPr>
            <a:solidFill>
              <a:schemeClr val="accent1">
                <a:lumMod val="20000"/>
                <a:lumOff val="80000"/>
                <a:alpha val="4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20000"/>
                <a:lumOff val="80000"/>
                <a:alpha val="4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20000"/>
                <a:lumOff val="80000"/>
                <a:alpha val="39000"/>
              </a:schemeClr>
            </a:solidFill>
            <a:ln w="0" cap="flat" cmpd="sng"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accent1">
                <a:lumMod val="20000"/>
                <a:lumOff val="80000"/>
                <a:alpha val="48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6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6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2991426071741033"/>
          <c:y val="0.17171296296296296"/>
          <c:w val="0.76428258967629048"/>
          <c:h val="0.697299504228638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OrdersSales!$B$3</c:f>
              <c:strCache>
                <c:ptCount val="1"/>
                <c:pt idx="0">
                  <c:v>Sum of Amount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9FA-4035-8E94-10359A85E1F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9FA-4035-8E94-10359A85E1F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19FA-4035-8E94-10359A85E1F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9FA-4035-8E94-10359A85E1F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19FA-4035-8E94-10359A85E1F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9FA-4035-8E94-10359A85E1FA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19FA-4035-8E94-10359A85E1FA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9FA-4035-8E94-10359A85E1FA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19FA-4035-8E94-10359A85E1FA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9FA-4035-8E94-10359A85E1FA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19FA-4035-8E94-10359A85E1FA}"/>
              </c:ext>
            </c:extLst>
          </c:dPt>
          <c:dLbls>
            <c:spPr>
              <a:solidFill>
                <a:schemeClr val="accent1">
                  <a:lumMod val="20000"/>
                  <a:lumOff val="80000"/>
                  <a:alpha val="39000"/>
                </a:schemeClr>
              </a:solidFill>
              <a:ln w="0" cap="flat" cmpd="sng">
                <a:noFill/>
                <a:round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OrdersSales!$A$4:$A$15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OrdersSales!$B$4:$B$15</c:f>
              <c:numCache>
                <c:formatCode>General</c:formatCode>
                <c:ptCount val="12"/>
                <c:pt idx="0">
                  <c:v>1820601</c:v>
                </c:pt>
                <c:pt idx="1">
                  <c:v>1875932</c:v>
                </c:pt>
                <c:pt idx="2">
                  <c:v>1928066</c:v>
                </c:pt>
                <c:pt idx="3">
                  <c:v>1829263</c:v>
                </c:pt>
                <c:pt idx="4">
                  <c:v>1797822</c:v>
                </c:pt>
                <c:pt idx="5">
                  <c:v>1750966</c:v>
                </c:pt>
                <c:pt idx="6">
                  <c:v>1772300</c:v>
                </c:pt>
                <c:pt idx="7">
                  <c:v>1808505</c:v>
                </c:pt>
                <c:pt idx="8">
                  <c:v>1688871</c:v>
                </c:pt>
                <c:pt idx="9">
                  <c:v>1666662</c:v>
                </c:pt>
                <c:pt idx="10">
                  <c:v>1615356</c:v>
                </c:pt>
                <c:pt idx="11">
                  <c:v>1622033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9FA-4035-8E94-10359A85E1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43604607"/>
        <c:axId val="943606687"/>
      </c:barChart>
      <c:lineChart>
        <c:grouping val="standard"/>
        <c:varyColors val="0"/>
        <c:ser>
          <c:idx val="1"/>
          <c:order val="1"/>
          <c:tx>
            <c:strRef>
              <c:f>OrdersSales!$C$3</c:f>
              <c:strCache>
                <c:ptCount val="1"/>
                <c:pt idx="0">
                  <c:v>Count of Order ID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C-19FA-4035-8E94-10359A85E1FA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D-19FA-4035-8E94-10359A85E1FA}"/>
              </c:ext>
            </c:extLst>
          </c:dPt>
          <c:dPt>
            <c:idx val="7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E-19FA-4035-8E94-10359A85E1FA}"/>
              </c:ext>
            </c:extLst>
          </c:dPt>
          <c:dLbls>
            <c:spPr>
              <a:solidFill>
                <a:schemeClr val="accent1">
                  <a:lumMod val="20000"/>
                  <a:lumOff val="80000"/>
                  <a:alpha val="48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OrdersSales!$A$4:$A$15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OrdersSales!$C$4:$C$15</c:f>
              <c:numCache>
                <c:formatCode>General</c:formatCode>
                <c:ptCount val="12"/>
                <c:pt idx="0">
                  <c:v>2702</c:v>
                </c:pt>
                <c:pt idx="1">
                  <c:v>2750</c:v>
                </c:pt>
                <c:pt idx="2">
                  <c:v>2819</c:v>
                </c:pt>
                <c:pt idx="3">
                  <c:v>2685</c:v>
                </c:pt>
                <c:pt idx="4">
                  <c:v>2617</c:v>
                </c:pt>
                <c:pt idx="5">
                  <c:v>2597</c:v>
                </c:pt>
                <c:pt idx="6">
                  <c:v>2579</c:v>
                </c:pt>
                <c:pt idx="7">
                  <c:v>2617</c:v>
                </c:pt>
                <c:pt idx="8">
                  <c:v>2490</c:v>
                </c:pt>
                <c:pt idx="9">
                  <c:v>2424</c:v>
                </c:pt>
                <c:pt idx="10">
                  <c:v>2383</c:v>
                </c:pt>
                <c:pt idx="11">
                  <c:v>2384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19FA-4035-8E94-10359A85E1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43607103"/>
        <c:axId val="943601279"/>
      </c:lineChart>
      <c:catAx>
        <c:axId val="9436046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606687"/>
        <c:crosses val="autoZero"/>
        <c:auto val="1"/>
        <c:lblAlgn val="ctr"/>
        <c:lblOffset val="100"/>
        <c:noMultiLvlLbl val="0"/>
      </c:catAx>
      <c:valAx>
        <c:axId val="943606687"/>
        <c:scaling>
          <c:orientation val="minMax"/>
        </c:scaling>
        <c:delete val="0"/>
        <c:axPos val="l"/>
        <c:numFmt formatCode="0.0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604607"/>
        <c:crosses val="autoZero"/>
        <c:crossBetween val="between"/>
      </c:valAx>
      <c:valAx>
        <c:axId val="94360127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607103"/>
        <c:crosses val="max"/>
        <c:crossBetween val="between"/>
      </c:valAx>
      <c:catAx>
        <c:axId val="9436071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4360127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8315726159230095"/>
          <c:y val="2.3564814814814816E-2"/>
          <c:w val="0.29757414698162732"/>
          <c:h val="0.1059033245844269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[kayaas_Store_excel_analysis.xlsx]Sheet5!PivotTable10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layout>
            <c:manualLayout>
              <c:x val="0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-6.018518518518509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5555555555555558E-3"/>
              <c:y val="-0.1157407407407407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4.629629629629629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-9.259259259259428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5555555555556572E-3"/>
              <c:y val="1.38888888888887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7777777777777779E-3"/>
              <c:y val="-1.851851851851851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8163456686385757E-18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1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-6.01851851851852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1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3061530698217211E-17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1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3061530698217211E-17"/>
              <c:y val="-6.018518518518527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1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3061530698217211E-17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1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8163456686385757E-18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-6.01851851851852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3061530698217211E-17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3061530698217211E-17"/>
              <c:y val="-6.018518518518527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3061530698217211E-17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5555555555555558E-3"/>
              <c:y val="-0.1157407407407407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7777777777777779E-3"/>
              <c:y val="-1.851851851851851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5555555555556572E-3"/>
              <c:y val="1.38888888888887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4.629629629629629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-9.259259259259428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layout>
            <c:manualLayout>
              <c:x val="0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8163456686385757E-18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-6.01851851851852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3061530698217211E-17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3061530698217211E-17"/>
              <c:y val="-6.018518518518527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3061530698217211E-17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-6.018518518518509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5555555555555558E-3"/>
              <c:y val="-0.1157407407407407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7777777777777779E-3"/>
              <c:y val="-1.851851851851851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5555555555556572E-3"/>
              <c:y val="1.38888888888887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4.629629629629629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-9.259259259259428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5.8163456686385757E-18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-6.01851851851852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3061530698217211E-17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3061530698217211E-17"/>
              <c:y val="-6.018518518518527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3061530698217211E-17"/>
              <c:y val="-6.01851851851851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"/>
              <c:y val="-6.018518518518509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2.5000000000000001E-2"/>
          <c:y val="5.0925925925925923E-2"/>
          <c:w val="0.93888888888888888"/>
          <c:h val="0.841674686497521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Sheet5!$B$2</c:f>
              <c:strCache>
                <c:ptCount val="1"/>
                <c:pt idx="0">
                  <c:v>Total-sales across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EEA-45E4-A2FB-901FCF834CF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EEA-45E4-A2FB-901FCF834CF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1EEA-45E4-A2FB-901FCF834CF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EEA-45E4-A2FB-901FCF834CF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1EEA-45E4-A2FB-901FCF834CFD}"/>
              </c:ext>
            </c:extLst>
          </c:dPt>
          <c:dLbls>
            <c:dLbl>
              <c:idx val="2"/>
              <c:layout>
                <c:manualLayout>
                  <c:x val="5.5555555555555558E-3"/>
                  <c:y val="-0.1157407407407407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EEA-45E4-A2FB-901FCF834CFD}"/>
                </c:ext>
              </c:extLst>
            </c:dLbl>
            <c:dLbl>
              <c:idx val="3"/>
              <c:layout>
                <c:manualLayout>
                  <c:x val="2.7777777777777779E-3"/>
                  <c:y val="-1.851851851851851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EA-45E4-A2FB-901FCF834CFD}"/>
                </c:ext>
              </c:extLst>
            </c:dLbl>
            <c:dLbl>
              <c:idx val="4"/>
              <c:layout>
                <c:manualLayout>
                  <c:x val="-5.5555555555556572E-3"/>
                  <c:y val="1.38888888888887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EEA-45E4-A2FB-901FCF834CFD}"/>
                </c:ext>
              </c:extLst>
            </c:dLbl>
            <c:dLbl>
              <c:idx val="5"/>
              <c:layout>
                <c:manualLayout>
                  <c:x val="0"/>
                  <c:y val="4.629629629629629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EEA-45E4-A2FB-901FCF834CFD}"/>
                </c:ext>
              </c:extLst>
            </c:dLbl>
            <c:dLbl>
              <c:idx val="6"/>
              <c:layout>
                <c:manualLayout>
                  <c:x val="0"/>
                  <c:y val="-9.259259259259428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EEA-45E4-A2FB-901FCF834CF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Sheet5!$A$3:$A$9</c:f>
              <c:strCache>
                <c:ptCount val="7"/>
                <c:pt idx="0">
                  <c:v>Amazon</c:v>
                </c:pt>
                <c:pt idx="1">
                  <c:v>Myntra</c:v>
                </c:pt>
                <c:pt idx="2">
                  <c:v>Flipkart</c:v>
                </c:pt>
                <c:pt idx="3">
                  <c:v>Ajio</c:v>
                </c:pt>
                <c:pt idx="4">
                  <c:v>Nalli</c:v>
                </c:pt>
                <c:pt idx="5">
                  <c:v>Meesho</c:v>
                </c:pt>
                <c:pt idx="6">
                  <c:v>Others</c:v>
                </c:pt>
              </c:strCache>
            </c:strRef>
          </c:cat>
          <c:val>
            <c:numRef>
              <c:f>Sheet5!$B$3:$B$9</c:f>
              <c:numCache>
                <c:formatCode>"₹"\ #,##0</c:formatCode>
                <c:ptCount val="7"/>
                <c:pt idx="0">
                  <c:v>7597925</c:v>
                </c:pt>
                <c:pt idx="1">
                  <c:v>5002184</c:v>
                </c:pt>
                <c:pt idx="2">
                  <c:v>4647811</c:v>
                </c:pt>
                <c:pt idx="3">
                  <c:v>1355071</c:v>
                </c:pt>
                <c:pt idx="4">
                  <c:v>1021353</c:v>
                </c:pt>
                <c:pt idx="5">
                  <c:v>933892</c:v>
                </c:pt>
                <c:pt idx="6">
                  <c:v>882973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EEA-45E4-A2FB-901FCF834CFD}"/>
            </c:ext>
          </c:extLst>
        </c:ser>
        <c:ser>
          <c:idx val="1"/>
          <c:order val="1"/>
          <c:tx>
            <c:strRef>
              <c:f>Sheet5!$C$2</c:f>
              <c:strCache>
                <c:ptCount val="1"/>
                <c:pt idx="0">
                  <c:v>Percentage wise Sales</c:v>
                </c:pt>
              </c:strCache>
            </c:strRef>
          </c:tx>
          <c:spPr>
            <a:solidFill>
              <a:schemeClr val="accent2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1EEA-45E4-A2FB-901FCF834CF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EEA-45E4-A2FB-901FCF834CFD}"/>
              </c:ext>
            </c:extLst>
          </c:dPt>
          <c:dLbls>
            <c:dLbl>
              <c:idx val="0"/>
              <c:layout>
                <c:manualLayout>
                  <c:x val="-5.8163456686385757E-18"/>
                  <c:y val="-6.01851851851851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EEA-45E4-A2FB-901FCF834CFD}"/>
                </c:ext>
              </c:extLst>
            </c:dLbl>
            <c:dLbl>
              <c:idx val="1"/>
              <c:layout>
                <c:manualLayout>
                  <c:x val="0"/>
                  <c:y val="-6.01851851851852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EEA-45E4-A2FB-901FCF834CFD}"/>
                </c:ext>
              </c:extLst>
            </c:dLbl>
            <c:dLbl>
              <c:idx val="2"/>
              <c:layout>
                <c:manualLayout>
                  <c:x val="0"/>
                  <c:y val="-6.01851851851851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EEA-45E4-A2FB-901FCF834CFD}"/>
                </c:ext>
              </c:extLst>
            </c:dLbl>
            <c:dLbl>
              <c:idx val="3"/>
              <c:layout>
                <c:manualLayout>
                  <c:x val="-9.3061530698217211E-17"/>
                  <c:y val="-6.01851851851851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EEA-45E4-A2FB-901FCF834CFD}"/>
                </c:ext>
              </c:extLst>
            </c:dLbl>
            <c:dLbl>
              <c:idx val="4"/>
              <c:layout>
                <c:manualLayout>
                  <c:x val="-9.3061530698217211E-17"/>
                  <c:y val="-6.018518518518527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EEA-45E4-A2FB-901FCF834CFD}"/>
                </c:ext>
              </c:extLst>
            </c:dLbl>
            <c:dLbl>
              <c:idx val="5"/>
              <c:layout>
                <c:manualLayout>
                  <c:x val="-9.3061530698217211E-17"/>
                  <c:y val="-6.01851851851851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EEA-45E4-A2FB-901FCF834CFD}"/>
                </c:ext>
              </c:extLst>
            </c:dLbl>
            <c:dLbl>
              <c:idx val="6"/>
              <c:layout>
                <c:manualLayout>
                  <c:x val="0"/>
                  <c:y val="-6.018518518518509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EEA-45E4-A2FB-901FCF834CF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Sheet5!$A$3:$A$9</c:f>
              <c:strCache>
                <c:ptCount val="7"/>
                <c:pt idx="0">
                  <c:v>Amazon</c:v>
                </c:pt>
                <c:pt idx="1">
                  <c:v>Myntra</c:v>
                </c:pt>
                <c:pt idx="2">
                  <c:v>Flipkart</c:v>
                </c:pt>
                <c:pt idx="3">
                  <c:v>Ajio</c:v>
                </c:pt>
                <c:pt idx="4">
                  <c:v>Nalli</c:v>
                </c:pt>
                <c:pt idx="5">
                  <c:v>Meesho</c:v>
                </c:pt>
                <c:pt idx="6">
                  <c:v>Others</c:v>
                </c:pt>
              </c:strCache>
            </c:strRef>
          </c:cat>
          <c:val>
            <c:numRef>
              <c:f>Sheet5!$C$3:$C$9</c:f>
              <c:numCache>
                <c:formatCode>0.00%</c:formatCode>
                <c:ptCount val="7"/>
                <c:pt idx="0">
                  <c:v>0.35436084784211563</c:v>
                </c:pt>
                <c:pt idx="1">
                  <c:v>0.2332976652575888</c:v>
                </c:pt>
                <c:pt idx="2">
                  <c:v>0.21677000583315986</c:v>
                </c:pt>
                <c:pt idx="3">
                  <c:v>6.3199374624817103E-2</c:v>
                </c:pt>
                <c:pt idx="4">
                  <c:v>4.7635047072205679E-2</c:v>
                </c:pt>
                <c:pt idx="5">
                  <c:v>4.355593940621539E-2</c:v>
                </c:pt>
                <c:pt idx="6">
                  <c:v>4.1181119963897561E-2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EEA-45E4-A2FB-901FCF834CF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803199280"/>
        <c:axId val="1803195120"/>
      </c:barChart>
      <c:catAx>
        <c:axId val="1803199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3195120"/>
        <c:crosses val="autoZero"/>
        <c:auto val="1"/>
        <c:lblAlgn val="ctr"/>
        <c:lblOffset val="100"/>
        <c:noMultiLvlLbl val="0"/>
      </c:catAx>
      <c:valAx>
        <c:axId val="1803195120"/>
        <c:scaling>
          <c:orientation val="minMax"/>
        </c:scaling>
        <c:delete val="1"/>
        <c:axPos val="l"/>
        <c:numFmt formatCode="&quot;₹&quot;\ #,##0" sourceLinked="1"/>
        <c:majorTickMark val="out"/>
        <c:minorTickMark val="none"/>
        <c:tickLblPos val="nextTo"/>
        <c:crossAx val="1803199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[kayaas_Store_excel_analysis.xlsx]top5states!PivotTable4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Sales:Top 5 States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</c:pivotFmt>
      <c:pivotFmt>
        <c:idx val="5"/>
        <c:spPr>
          <a:solidFill>
            <a:schemeClr val="accent1">
              <a:lumMod val="5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c:spPr>
      </c:pivotFmt>
      <c:pivotFmt>
        <c:idx val="8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9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10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</c:pivotFmt>
      <c:pivotFmt>
        <c:idx val="11"/>
        <c:spPr>
          <a:solidFill>
            <a:schemeClr val="accent1">
              <a:lumMod val="50000"/>
            </a:schemeClr>
          </a:solidFill>
          <a:ln>
            <a:noFill/>
          </a:ln>
          <a:effectLst/>
        </c:spPr>
      </c:pivotFmt>
      <c:pivotFmt>
        <c:idx val="1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c:spPr>
      </c:pivotFmt>
      <c:pivotFmt>
        <c:idx val="14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15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16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</c:pivotFmt>
      <c:pivotFmt>
        <c:idx val="17"/>
        <c:spPr>
          <a:solidFill>
            <a:schemeClr val="accent1">
              <a:lumMod val="50000"/>
            </a:schemeClr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9705424321959755"/>
          <c:y val="0.17634259259259263"/>
          <c:w val="0.72566097987751532"/>
          <c:h val="0.7208876494604841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top5states!$B$3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941-43B8-BD20-EFA5A5A2275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941-43B8-BD20-EFA5A5A2275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941-43B8-BD20-EFA5A5A2275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941-43B8-BD20-EFA5A5A2275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941-43B8-BD20-EFA5A5A2275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top5states!$A$4:$A$8</c:f>
              <c:strCache>
                <c:ptCount val="5"/>
                <c:pt idx="0">
                  <c:v>TAMIL NADU</c:v>
                </c:pt>
                <c:pt idx="1">
                  <c:v>TELANGANA</c:v>
                </c:pt>
                <c:pt idx="2">
                  <c:v>UTTAR PRADESH</c:v>
                </c:pt>
                <c:pt idx="3">
                  <c:v>KARNATAKA</c:v>
                </c:pt>
                <c:pt idx="4">
                  <c:v>MAHARASHTRA</c:v>
                </c:pt>
              </c:strCache>
            </c:strRef>
          </c:cat>
          <c:val>
            <c:numRef>
              <c:f>top5states!$B$4:$B$8</c:f>
              <c:numCache>
                <c:formatCode>General</c:formatCode>
                <c:ptCount val="5"/>
                <c:pt idx="0">
                  <c:v>1678877</c:v>
                </c:pt>
                <c:pt idx="1">
                  <c:v>1712439</c:v>
                </c:pt>
                <c:pt idx="2">
                  <c:v>2104659</c:v>
                </c:pt>
                <c:pt idx="3">
                  <c:v>2646358</c:v>
                </c:pt>
                <c:pt idx="4">
                  <c:v>2990221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941-43B8-BD20-EFA5A5A227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850072239"/>
        <c:axId val="850071823"/>
      </c:barChart>
      <c:catAx>
        <c:axId val="8500722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0071823"/>
        <c:crosses val="autoZero"/>
        <c:auto val="1"/>
        <c:lblAlgn val="ctr"/>
        <c:lblOffset val="100"/>
        <c:noMultiLvlLbl val="0"/>
      </c:catAx>
      <c:valAx>
        <c:axId val="850071823"/>
        <c:scaling>
          <c:orientation val="minMax"/>
        </c:scaling>
        <c:delete val="0"/>
        <c:axPos val="b"/>
        <c:numFmt formatCode="0.0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00722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05939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64071"/>
                </a:solidFill>
              </a:defRPr>
            </a:pPr>
            <a:r>
              <a:rPr dirty="0" err="1"/>
              <a:t>Ka</a:t>
            </a:r>
            <a:r>
              <a:rPr lang="en-US" dirty="0" err="1"/>
              <a:t>y</a:t>
            </a:r>
            <a:r>
              <a:rPr dirty="0" err="1"/>
              <a:t>aas</a:t>
            </a:r>
            <a:r>
              <a:rPr dirty="0"/>
              <a:t> Store Dashboard</a:t>
            </a:r>
          </a:p>
          <a:p>
            <a:pPr>
              <a:defRPr sz="2800">
                <a:solidFill>
                  <a:srgbClr val="466FB4"/>
                </a:solidFill>
              </a:defRPr>
            </a:pPr>
            <a:r>
              <a:rPr dirty="0"/>
              <a:t>Annual Report 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96969"/>
                </a:solidFill>
              </a:defRPr>
            </a:pPr>
            <a:r>
              <a:t>Sales • Orders • Customers • Channels • Categories • Geography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37960"/>
            <a:ext cx="11064240" cy="18288"/>
          </a:xfrm>
          <a:prstGeom prst="rect">
            <a:avLst/>
          </a:prstGeom>
          <a:solidFill>
            <a:srgbClr val="E0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CB1837-8EE1-4628-8152-FE642A73D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157950"/>
            <a:ext cx="10515600" cy="33118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4071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Interactive business-performance dashboard for 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rPr dirty="0"/>
              <a:t>• Provides a consolidated view of </a:t>
            </a:r>
            <a:r>
              <a:rPr dirty="0" err="1"/>
              <a:t>Ka</a:t>
            </a:r>
            <a:r>
              <a:rPr lang="en-US" dirty="0" err="1"/>
              <a:t>y</a:t>
            </a:r>
            <a:r>
              <a:rPr dirty="0" err="1"/>
              <a:t>aas</a:t>
            </a:r>
            <a:r>
              <a:rPr dirty="0"/>
              <a:t> Store sales and order performance.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rPr dirty="0"/>
              <a:t>• Combines KPI cards, trend analysis, customer segmentation, channel analysis and product analysis.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rPr dirty="0"/>
              <a:t>• Interactive slicers allow users to filter the report by Month, Channel and Category.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rPr dirty="0"/>
              <a:t>• Designed to convert transactional data into actionable business insights.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64240" cy="18288"/>
          </a:xfrm>
          <a:prstGeom prst="rect">
            <a:avLst/>
          </a:prstGeom>
          <a:solidFill>
            <a:srgbClr val="E0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4071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Headline values visible in the supplied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743200" cy="1143000"/>
          </a:xfrm>
          <a:prstGeom prst="roundRect">
            <a:avLst/>
          </a:prstGeom>
          <a:solidFill>
            <a:srgbClr val="E0E9F7"/>
          </a:solidFill>
          <a:ln>
            <a:solidFill>
              <a:srgbClr val="4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4071"/>
                </a:solidFill>
              </a:defRPr>
            </a:pPr>
            <a:r>
              <a:t>TOTAL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2D2D"/>
                </a:solidFill>
              </a:defRPr>
            </a:pPr>
            <a:r>
              <a:t>₹2,14,41,209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417320"/>
            <a:ext cx="2743200" cy="1143000"/>
          </a:xfrm>
          <a:prstGeom prst="roundRect">
            <a:avLst/>
          </a:prstGeom>
          <a:solidFill>
            <a:srgbClr val="E0E9F7"/>
          </a:solidFill>
          <a:ln>
            <a:solidFill>
              <a:srgbClr val="4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0" y="15544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4071"/>
                </a:solidFill>
              </a:defRPr>
            </a:pPr>
            <a:r>
              <a:t>COUNT OF SKU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9202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2D2D"/>
                </a:solidFill>
              </a:defRPr>
            </a:pPr>
            <a:r>
              <a:t>31,047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417320"/>
            <a:ext cx="2103120" cy="1143000"/>
          </a:xfrm>
          <a:prstGeom prst="roundRect">
            <a:avLst/>
          </a:prstGeom>
          <a:solidFill>
            <a:srgbClr val="E0E9F7"/>
          </a:solidFill>
          <a:ln>
            <a:solidFill>
              <a:srgbClr val="4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1554480"/>
            <a:ext cx="18287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4071"/>
                </a:solidFill>
              </a:defRPr>
            </a:pPr>
            <a:r>
              <a:t>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920240"/>
            <a:ext cx="18287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2D2D"/>
                </a:solidFill>
              </a:defRPr>
            </a:pPr>
            <a:r>
              <a:t>9,494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417320"/>
            <a:ext cx="2103120" cy="1143000"/>
          </a:xfrm>
          <a:prstGeom prst="roundRect">
            <a:avLst/>
          </a:prstGeom>
          <a:solidFill>
            <a:srgbClr val="E0E9F7"/>
          </a:solidFill>
          <a:ln>
            <a:solidFill>
              <a:srgbClr val="4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1554480"/>
            <a:ext cx="18287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4071"/>
                </a:solidFill>
              </a:defRPr>
            </a:pPr>
            <a:r>
              <a:t>WOMEN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920240"/>
            <a:ext cx="18287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2D2D"/>
                </a:solidFill>
              </a:defRPr>
            </a:pPr>
            <a:r>
              <a:t>21,553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63240"/>
            <a:ext cx="86121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• Women account for the larger visible customer/order share.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• KPI cards provide an immediate executive-level view before detailed analysis.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37960"/>
            <a:ext cx="11064240" cy="18288"/>
          </a:xfrm>
          <a:prstGeom prst="rect">
            <a:avLst/>
          </a:prstGeom>
          <a:solidFill>
            <a:srgbClr val="E0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4071"/>
                </a:solidFill>
              </a:defRPr>
            </a:pPr>
            <a:r>
              <a:t>Sales Trend &amp; Order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Monthly performance and fulfillment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76983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• Orders vs Sales compares monthly sales amount with order count.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• March shows the highest visible order count at approximately 2,819.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• Delivered orders dominate the status view with 28,641 orders.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• Other visible statuses are Cancelled (844), Refunded (517) and Returned (1,045).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64240" cy="18288"/>
          </a:xfrm>
          <a:prstGeom prst="rect">
            <a:avLst/>
          </a:prstGeom>
          <a:solidFill>
            <a:srgbClr val="E0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5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C1A8224-5D58-4199-915E-22C48A24D9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2494774"/>
              </p:ext>
            </p:extLst>
          </p:nvPr>
        </p:nvGraphicFramePr>
        <p:xfrm>
          <a:off x="861410" y="3229857"/>
          <a:ext cx="5108466" cy="3079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9F3419F-51A8-422A-98AF-5F26490468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1172654"/>
              </p:ext>
            </p:extLst>
          </p:nvPr>
        </p:nvGraphicFramePr>
        <p:xfrm>
          <a:off x="5969876" y="3210186"/>
          <a:ext cx="5643005" cy="3245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4071"/>
                </a:solidFill>
              </a:defRPr>
            </a:pPr>
            <a:r>
              <a:t>Customer &amp; Channel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Who is buying and where orders are coming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31637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• Percentagewise Sales shows approximately 64% Women and 36% Men.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• Young customers form the largest visible age-group contribution, particularly Women.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• Amazon is the leading visible channel with 11,016 orders (35%).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• Myntra contributes 7,254 orders (23%) and Flipkart 6,703 orders (22%).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64240" cy="18288"/>
          </a:xfrm>
          <a:prstGeom prst="rect">
            <a:avLst/>
          </a:prstGeom>
          <a:solidFill>
            <a:srgbClr val="E0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6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BE3BE85-9DD0-4E05-B165-6C9EF00379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6574271"/>
              </p:ext>
            </p:extLst>
          </p:nvPr>
        </p:nvGraphicFramePr>
        <p:xfrm>
          <a:off x="795020" y="3410712"/>
          <a:ext cx="7318966" cy="29507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4071"/>
                </a:solidFill>
              </a:defRPr>
            </a:pPr>
            <a:r>
              <a:t>Geography &amp; Product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Top states, category depth and size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01157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• Maharashtra leads the displayed Top 5 states with approximately ₹2.99M sales.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• Karnataka follows at approximately ₹2.65M, then Uttar Pradesh at ₹2.10M.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• Set has the highest visible SKU count (12,391), followed by Kurta (10,446).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• M size has the highest visible total quantity, followed by L and XL.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64240" cy="18288"/>
          </a:xfrm>
          <a:prstGeom prst="rect">
            <a:avLst/>
          </a:prstGeom>
          <a:solidFill>
            <a:srgbClr val="E0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7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9583F64-CB4D-4A2F-993C-4527584C0E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5459919"/>
              </p:ext>
            </p:extLst>
          </p:nvPr>
        </p:nvGraphicFramePr>
        <p:xfrm>
          <a:off x="888124" y="3229856"/>
          <a:ext cx="5439104" cy="300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4071"/>
                </a:solidFill>
              </a:defRPr>
            </a:pPr>
            <a:r>
              <a:t>Interactive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Slice the dashboard for focused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1143000"/>
          </a:xfrm>
          <a:prstGeom prst="roundRect">
            <a:avLst/>
          </a:prstGeom>
          <a:solidFill>
            <a:srgbClr val="E0E9F7"/>
          </a:solidFill>
          <a:ln>
            <a:solidFill>
              <a:srgbClr val="4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39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64071"/>
                </a:solidFill>
              </a:defRPr>
            </a:pPr>
            <a:r>
              <a:t>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463039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Jan • Feb • Mar • Apr • May • Jun • Jul • Aug • Sep • Oct • Nov • Dec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39"/>
            <a:ext cx="10698480" cy="1143000"/>
          </a:xfrm>
          <a:prstGeom prst="roundRect">
            <a:avLst/>
          </a:prstGeom>
          <a:solidFill>
            <a:srgbClr val="E0E9F7"/>
          </a:solidFill>
          <a:ln>
            <a:solidFill>
              <a:srgbClr val="4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71799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64071"/>
                </a:solidFill>
              </a:defRPr>
            </a:pPr>
            <a: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971799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Ajio • Amazon • Flipkart • Meesho • Myntra • Nalli • Others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10698480" cy="1143000"/>
          </a:xfrm>
          <a:prstGeom prst="roundRect">
            <a:avLst/>
          </a:prstGeom>
          <a:solidFill>
            <a:srgbClr val="E0E9F7"/>
          </a:solidFill>
          <a:ln>
            <a:solidFill>
              <a:srgbClr val="4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4805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64071"/>
                </a:solidFill>
              </a:defRPr>
            </a:pPr>
            <a: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448056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Blouse • Bottom • Ethnic Dress • Kurta • Saree • Set • Top • Western Dress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537960"/>
            <a:ext cx="11064240" cy="18288"/>
          </a:xfrm>
          <a:prstGeom prst="rect">
            <a:avLst/>
          </a:prstGeom>
          <a:solidFill>
            <a:srgbClr val="E0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4071"/>
                </a:solidFill>
              </a:defRPr>
            </a:pPr>
            <a:r>
              <a:t>Dashboard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Full dashboard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64240" cy="18288"/>
          </a:xfrm>
          <a:prstGeom prst="rect">
            <a:avLst/>
          </a:prstGeom>
          <a:solidFill>
            <a:srgbClr val="E0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D92A6E-D8F5-4101-B2AF-1DB6531E2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72" y="1346715"/>
            <a:ext cx="11779855" cy="51089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252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4071"/>
                </a:solidFill>
              </a:defRPr>
            </a:pPr>
            <a:r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Observations from the dashboard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b="1" dirty="0"/>
              <a:t>Women</a:t>
            </a:r>
            <a:r>
              <a:rPr dirty="0"/>
              <a:t> are the dominant visible customer segment.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b="1" dirty="0"/>
              <a:t>Amazon, Myntra and Flipkart</a:t>
            </a:r>
            <a:r>
              <a:rPr dirty="0"/>
              <a:t> together represent the major visible order channels.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rPr dirty="0"/>
              <a:t>• A very high share of orders is </a:t>
            </a:r>
            <a:r>
              <a:rPr b="1" dirty="0"/>
              <a:t>delivered</a:t>
            </a:r>
            <a:r>
              <a:rPr dirty="0"/>
              <a:t>, indicating strong fulfillment performance.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rPr dirty="0"/>
              <a:t>• Young customers are the strongest visible age group.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b="1" dirty="0"/>
              <a:t>Maharashtra</a:t>
            </a:r>
            <a:r>
              <a:rPr dirty="0"/>
              <a:t> is the strongest state among the displayed Top 5.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b="1" dirty="0"/>
              <a:t>Set and Kurta </a:t>
            </a:r>
            <a:r>
              <a:rPr dirty="0"/>
              <a:t>dominate visible SKU counts, while </a:t>
            </a:r>
            <a:r>
              <a:rPr lang="en-US" dirty="0"/>
              <a:t>"</a:t>
            </a:r>
            <a:r>
              <a:rPr b="1" dirty="0"/>
              <a:t>M</a:t>
            </a:r>
            <a:r>
              <a:rPr lang="en-US" dirty="0"/>
              <a:t>“ size</a:t>
            </a:r>
            <a:r>
              <a:rPr dirty="0"/>
              <a:t> is the strongest visible size by quantity.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64240" cy="18288"/>
          </a:xfrm>
          <a:prstGeom prst="rect">
            <a:avLst/>
          </a:prstGeom>
          <a:solidFill>
            <a:srgbClr val="E0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64071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rPr dirty="0"/>
              <a:t>• It connects sales, orders, customers, channels, geography and product demand in one report.</a:t>
            </a:r>
          </a:p>
          <a:p>
            <a:pPr>
              <a:spcAft>
                <a:spcPts val="1200"/>
              </a:spcAft>
              <a:defRPr sz="2200">
                <a:solidFill>
                  <a:srgbClr val="2D2D2D"/>
                </a:solidFill>
              </a:defRPr>
            </a:pPr>
            <a:r>
              <a:rPr dirty="0"/>
              <a:t>• The insights can support decisions around channel strategy, inventory, customer targeting and operational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1206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66FB4"/>
                </a:solidFill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64240" cy="18288"/>
          </a:xfrm>
          <a:prstGeom prst="rect">
            <a:avLst/>
          </a:prstGeom>
          <a:solidFill>
            <a:srgbClr val="E0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131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627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052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4071"/>
                </a:solidFill>
              </a:defRPr>
            </a:pPr>
            <a: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How the dashboard can be extended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44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rPr dirty="0"/>
              <a:t>• Add profit and profit-margin KPIs to move beyond sales-only reporting.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rPr dirty="0"/>
              <a:t>• Track return rate, cancellation rate and refund rate as dedicated KPIs.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rPr dirty="0"/>
              <a:t>• Add year-over-year and month-over-month growth measures.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rPr dirty="0"/>
              <a:t>• Create drill-through pages for product, channel and state-level investigation.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rPr dirty="0"/>
              <a:t>• Add customer retention and repeat-purchase analysis.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rPr dirty="0"/>
              <a:t>• Add geographic maps and top/bottom product performance views.</a:t>
            </a:r>
            <a:endParaRPr lang="en-US" dirty="0"/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endParaRPr lang="en-IN" dirty="0"/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endParaRPr lang="en-IN" dirty="0"/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rPr lang="en-US" dirty="0"/>
              <a:t>• The dashboard provides a single interactive view of </a:t>
            </a:r>
            <a:r>
              <a:rPr lang="en-US" dirty="0" err="1"/>
              <a:t>Kayaas</a:t>
            </a:r>
            <a:r>
              <a:rPr lang="en-US" dirty="0"/>
              <a:t> Store's 2022 performance.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64240" cy="18288"/>
          </a:xfrm>
          <a:prstGeom prst="rect">
            <a:avLst/>
          </a:prstGeom>
          <a:solidFill>
            <a:srgbClr val="E0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658</Words>
  <Application>Microsoft Office PowerPoint</Application>
  <PresentationFormat>Widescreen</PresentationFormat>
  <Paragraphs>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amit.kr</cp:lastModifiedBy>
  <cp:revision>11</cp:revision>
  <dcterms:created xsi:type="dcterms:W3CDTF">2013-01-27T09:14:16Z</dcterms:created>
  <dcterms:modified xsi:type="dcterms:W3CDTF">2026-09-15T06:52:03Z</dcterms:modified>
  <cp:category/>
</cp:coreProperties>
</file>